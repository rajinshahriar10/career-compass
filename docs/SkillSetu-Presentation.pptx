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097280"/>
            <a:ext cx="4572000" cy="4572000"/>
          </a:xfrm>
          <a:prstGeom prst="ellipse">
            <a:avLst/>
          </a:prstGeom>
          <a:solidFill>
            <a:srgbClr val="0C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3291840"/>
            <a:ext cx="3108960" cy="3108960"/>
          </a:xfrm>
          <a:prstGeom prst="ellipse">
            <a:avLst/>
          </a:prstGeom>
          <a:solidFill>
            <a:srgbClr val="0A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9F6E"/>
                </a:solidFill>
                <a:latin typeface="Segoe UI"/>
              </a:rPr>
              <a:t>GP AI BOOTCAMP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Nirmala UI"/>
              </a:rPr>
              <a:t>Skill সেতু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E9F6E"/>
                </a:solidFill>
                <a:latin typeface="Segoe UI"/>
              </a:rPr>
              <a:t>Career Compass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C9D6DE"/>
                </a:solidFill>
                <a:latin typeface="Segoe UI"/>
              </a:rPr>
              <a:t>An AI career copilot that bridges the gap between education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C9D6DE"/>
                </a:solidFill>
                <a:latin typeface="Segoe UI"/>
              </a:rPr>
              <a:t>and employment for Bangladeshi youth — Bangla-first and 100% free.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480560"/>
            <a:ext cx="2514600" cy="457200"/>
          </a:xfrm>
          <a:prstGeom prst="roundRect">
            <a:avLst/>
          </a:prstGeom>
          <a:solidFill>
            <a:srgbClr val="0E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9F6E"/>
                </a:solidFill>
                <a:latin typeface="Segoe UI"/>
              </a:rPr>
              <a:t>Skill Development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4480560"/>
            <a:ext cx="2514600" cy="457200"/>
          </a:xfrm>
          <a:prstGeom prst="roundRect">
            <a:avLst/>
          </a:prstGeom>
          <a:solidFill>
            <a:srgbClr val="0E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4480560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E88E5"/>
                </a:solidFill>
                <a:latin typeface="Segoe UI"/>
              </a:rPr>
              <a:t>Career Guidance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480560"/>
            <a:ext cx="2514600" cy="457200"/>
          </a:xfrm>
          <a:prstGeom prst="roundRect">
            <a:avLst/>
          </a:prstGeom>
          <a:solidFill>
            <a:srgbClr val="0E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4480560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08A00"/>
                </a:solidFill>
                <a:latin typeface="Segoe UI"/>
              </a:rPr>
              <a:t>MyGP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521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B76"/>
                </a:solidFill>
                <a:latin typeface="Segoe UI"/>
              </a:rPr>
              <a:t>Team: GP AI Bootcamp  ·  Live demo: career-compass.vercel.app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C6B76"/>
                </a:solidFill>
                <a:latin typeface="Nirmala UI"/>
              </a:rPr>
              <a:t>Skill সেতু  ·  Career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B1F2A"/>
                </a:solidFill>
                <a:latin typeface="Segoe UI"/>
              </a:rPr>
              <a:t>What we'll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16736"/>
            <a:ext cx="822960" cy="502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45336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B76"/>
                </a:solidFill>
                <a:latin typeface="Segoe UI"/>
              </a:rPr>
              <a:t>From the real problem to a deployed, AI-powered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6"/>
                </a:solidFill>
                <a:latin typeface="Nirmala UI"/>
              </a:rPr>
              <a:t>GP AI Bootcamp  ·  Skill সেতু (Career Compass)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E9F6E"/>
                </a:solidFill>
                <a:latin typeface="Segoe U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028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231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5484D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99008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2A"/>
                </a:solidFill>
                <a:latin typeface="Segoe UI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3375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Why millions of youth are stuck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24028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24231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9F6E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99008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2A"/>
                </a:solidFill>
                <a:latin typeface="Segoe UI"/>
              </a:rPr>
              <a:t>Our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33375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C6B76"/>
                </a:solidFill>
                <a:latin typeface="Nirmala UI"/>
              </a:rPr>
              <a:t>Skill সেতু — an AI career copilot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224028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5" y="24231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88E5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5" y="299008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2A"/>
                </a:solidFill>
                <a:latin typeface="Segoe UI"/>
              </a:rPr>
              <a:t>Product &amp;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5" y="33375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7 modules users actually use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0624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3891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08A00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95604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2A"/>
                </a:solidFill>
                <a:latin typeface="Segoe UI"/>
              </a:rPr>
              <a:t>AI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53035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How Gemini + Neon power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420624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43891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9F6E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495604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2A"/>
                </a:solidFill>
                <a:latin typeface="Segoe UI"/>
              </a:rPr>
              <a:t>Tech &amp;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6864" y="53035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A complete $0 free-tier stack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3" y="420624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7615" y="43891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88E5"/>
                </a:solidFill>
                <a:latin typeface="Segoe U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5" y="495604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2A"/>
                </a:solidFill>
                <a:latin typeface="Segoe UI"/>
              </a:rPr>
              <a:t>Impact &amp; Roadmap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53035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Scale, MyGP integration,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C6B76"/>
                </a:solidFill>
                <a:latin typeface="Nirmala UI"/>
              </a:rPr>
              <a:t>Skill সেতু  ·  Career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9F6E"/>
                </a:solidFill>
                <a:latin typeface="Segoe UI"/>
              </a:rPr>
              <a:t>01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F2A"/>
                </a:solidFill>
                <a:latin typeface="Segoe UI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502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5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B76"/>
                </a:solidFill>
                <a:latin typeface="Segoe UI"/>
              </a:rPr>
              <a:t>Bangladesh produces graduates faster than it produces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6"/>
                </a:solidFill>
                <a:latin typeface="Nirmala UI"/>
              </a:rPr>
              <a:t>GP AI Bootcamp  ·  Skill সেতু (Career Compass)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E9F6E"/>
                </a:solidFill>
                <a:latin typeface="Segoe U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50591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E5484D"/>
                </a:solidFill>
                <a:latin typeface="Segoe UI"/>
              </a:rPr>
              <a:t>2M+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1752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0B1F2A"/>
                </a:solidFill>
                <a:latin typeface="Segoe UI"/>
              </a:rPr>
              <a:t>young people enter the job market every year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228600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2450591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E5484D"/>
                </a:solidFill>
                <a:latin typeface="Segoe UI"/>
              </a:rPr>
              <a:t>#1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01752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0B1F2A"/>
                </a:solidFill>
                <a:latin typeface="Segoe UI"/>
              </a:rPr>
              <a:t>employer complaint: not enough qualified candidates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228600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2450591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E5484D"/>
                </a:solidFill>
                <a:latin typeface="Segoe UI"/>
              </a:rPr>
              <a:t>Wide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301752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0B1F2A"/>
                </a:solidFill>
                <a:latin typeface="Segoe UI"/>
              </a:rPr>
              <a:t>gap between what universities teach and employers need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4544" y="228600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2450591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E5484D"/>
                </a:solidFill>
                <a:latin typeface="Segoe UI"/>
              </a:rPr>
              <a:t>Expensive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301752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0B1F2A"/>
                </a:solidFill>
                <a:latin typeface="Segoe UI"/>
              </a:rPr>
              <a:t>quality career guidance — urban, English-first, paywalled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605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2A"/>
                </a:solidFill>
                <a:latin typeface="Segoe UI"/>
              </a:rPr>
              <a:t>What's missing is a bridge — affordable, personalised, and in Bangla.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C6B76"/>
                </a:solidFill>
                <a:latin typeface="Segoe UI"/>
              </a:rPr>
              <a:t>Students graduate with degrees but no employable skills, no guidance on which skill to learn,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C6B76"/>
                </a:solidFill>
                <a:latin typeface="Segoe UI"/>
              </a:rPr>
              <a:t>and no affordable way to prepare a CV or practise an interview.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C6B76"/>
                </a:solidFill>
                <a:latin typeface="Nirmala UI"/>
              </a:rPr>
              <a:t>Skill সেতু  ·  Career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9F6E"/>
                </a:solidFill>
                <a:latin typeface="Segoe UI"/>
              </a:rPr>
              <a:t>01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F2A"/>
                </a:solidFill>
                <a:latin typeface="Segoe UI"/>
              </a:rPr>
              <a:t>The vicious cycle we're breaking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502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6"/>
                </a:solidFill>
                <a:latin typeface="Nirmala UI"/>
              </a:rPr>
              <a:t>GP AI Bootcamp  ·  Skill সেতু (Career Compass)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E9F6E"/>
                </a:solidFill>
                <a:latin typeface="Segoe U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0280"/>
            <a:ext cx="1856231" cy="1051560"/>
          </a:xfrm>
          <a:prstGeom prst="roundRect">
            <a:avLst>
              <a:gd name="adj" fmla="val 12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856231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A7D57"/>
                </a:solidFill>
                <a:latin typeface="Segoe UI"/>
              </a:rPr>
              <a:t>No skills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32887" y="2606039"/>
            <a:ext cx="310896" cy="292608"/>
          </a:xfrm>
          <a:prstGeom prst="rightArrow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0359" y="2240280"/>
            <a:ext cx="1856231" cy="1051560"/>
          </a:xfrm>
          <a:prstGeom prst="roundRect">
            <a:avLst>
              <a:gd name="adj" fmla="val 12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59" y="2240280"/>
            <a:ext cx="1856231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A7D57"/>
                </a:solidFill>
                <a:latin typeface="Segoe UI"/>
              </a:rPr>
              <a:t>No job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73168" y="2606039"/>
            <a:ext cx="310896" cy="292608"/>
          </a:xfrm>
          <a:prstGeom prst="rightArrow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0" y="2240280"/>
            <a:ext cx="1856231" cy="1051560"/>
          </a:xfrm>
          <a:prstGeom prst="roundRect">
            <a:avLst>
              <a:gd name="adj" fmla="val 12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240280"/>
            <a:ext cx="1856231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A7D57"/>
                </a:solidFill>
                <a:latin typeface="Segoe UI"/>
              </a:rPr>
              <a:t>No income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13447" y="2606039"/>
            <a:ext cx="310896" cy="292608"/>
          </a:xfrm>
          <a:prstGeom prst="rightArrow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60919" y="2240280"/>
            <a:ext cx="1856231" cy="1051560"/>
          </a:xfrm>
          <a:prstGeom prst="roundRect">
            <a:avLst>
              <a:gd name="adj" fmla="val 12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2240280"/>
            <a:ext cx="1856231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A7D57"/>
                </a:solidFill>
                <a:latin typeface="Segoe UI"/>
              </a:rPr>
              <a:t>Can't afford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A7D57"/>
                </a:solidFill>
                <a:latin typeface="Segoe UI"/>
              </a:rPr>
              <a:t>training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253727" y="2606039"/>
            <a:ext cx="310896" cy="292608"/>
          </a:xfrm>
          <a:prstGeom prst="rightArrow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01199" y="2240280"/>
            <a:ext cx="1856231" cy="105156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199" y="2240280"/>
            <a:ext cx="1856231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E5484D"/>
                </a:solidFill>
                <a:latin typeface="Segoe UI"/>
              </a:rPr>
              <a:t>No 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611879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2A"/>
                </a:solidFill>
                <a:latin typeface="Segoe UI"/>
              </a:rPr>
              <a:t>↺  The loop repeats — and talent is lost to the economy every year.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11480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5C6B76"/>
                </a:solidFill>
                <a:latin typeface="Segoe UI"/>
              </a:rPr>
              <a:t>Our product injects a single missing link: a personalised, free, AI-guided path from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5C6B76"/>
                </a:solidFill>
                <a:latin typeface="Segoe UI"/>
              </a:rPr>
              <a:t>'I don't know what to do' to 'I'm ready to apply.'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C6B76"/>
                </a:solidFill>
                <a:latin typeface="Nirmala UI"/>
              </a:rPr>
              <a:t>Skill সেতু  ·  Career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9F6E"/>
                </a:solidFill>
                <a:latin typeface="Segoe UI"/>
              </a:rPr>
              <a:t>01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F2A"/>
                </a:solidFill>
                <a:latin typeface="Segoe UI"/>
              </a:rPr>
              <a:t>Who suffers — our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502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6"/>
                </a:solidFill>
                <a:latin typeface="Nirmala UI"/>
              </a:rPr>
              <a:t>GP AI Bootcamp  ·  Skill সেতু (Career Compass)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E9F6E"/>
                </a:solidFill>
                <a:latin typeface="Segoe U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34290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194560"/>
            <a:ext cx="868680" cy="868680"/>
          </a:xfrm>
          <a:prstGeom prst="ellipse">
            <a:avLst/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0B1F2A"/>
                </a:solidFill>
                <a:latin typeface="Segoe UI"/>
              </a:rPr>
              <a:t>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1868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2A"/>
                </a:solidFill>
                <a:latin typeface="Segoe UI"/>
              </a:rPr>
              <a:t>Rahim, 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4787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7D57"/>
                </a:solidFill>
                <a:latin typeface="Segoe UI"/>
              </a:rPr>
              <a:t>HSC graduate, Sylhet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13631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B76"/>
                </a:solidFill>
                <a:latin typeface="Segoe UI"/>
              </a:rPr>
              <a:t>Knows a smartphone but not which skill pays. No mentor, no roadmap.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920240"/>
            <a:ext cx="34290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45152" y="2194560"/>
            <a:ext cx="868680" cy="868680"/>
          </a:xfrm>
          <a:prstGeom prst="ellipse">
            <a:avLst/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219456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0B1F2A"/>
                </a:solidFill>
                <a:latin typeface="Segoe UI"/>
              </a:rPr>
              <a:t>👩‍💻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321868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2A"/>
                </a:solidFill>
                <a:latin typeface="Segoe UI"/>
              </a:rPr>
              <a:t>Nusrat, 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54787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7D57"/>
                </a:solidFill>
                <a:latin typeface="Segoe UI"/>
              </a:rPr>
              <a:t>Final-year student, Dhaka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3913631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B76"/>
                </a:solidFill>
                <a:latin typeface="Segoe UI"/>
              </a:rPr>
              <a:t>Wants to freelance online but is lost between courses and platforms.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3" y="1920240"/>
            <a:ext cx="34290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75904" y="2194560"/>
            <a:ext cx="868680" cy="868680"/>
          </a:xfrm>
          <a:prstGeom prst="ellipse">
            <a:avLst/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4" y="219456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0B1F2A"/>
                </a:solidFill>
                <a:latin typeface="Segoe UI"/>
              </a:rPr>
              <a:t>🧑‍💼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321868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2A"/>
                </a:solidFill>
                <a:latin typeface="Segoe UI"/>
              </a:rPr>
              <a:t>Sabbir, 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354787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A7D57"/>
                </a:solidFill>
                <a:latin typeface="Segoe UI"/>
              </a:rPr>
              <a:t>Junior employee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3913631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B76"/>
                </a:solidFill>
                <a:latin typeface="Segoe UI"/>
              </a:rPr>
              <a:t>Stuck in a low-paying job; needs upskilling + a better CV to move.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C6B76"/>
                </a:solidFill>
                <a:latin typeface="Nirmala UI"/>
              </a:rPr>
              <a:t>Skill সেতু  ·  Career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9F6E"/>
                </a:solidFill>
                <a:latin typeface="Segoe UI"/>
              </a:rPr>
              <a:t>02 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F2A"/>
                </a:solidFill>
                <a:latin typeface="Segoe UI"/>
              </a:rPr>
              <a:t>Our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502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5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B76"/>
                </a:solidFill>
                <a:latin typeface="Segoe UI"/>
              </a:rPr>
              <a:t>An AI career copilot inside the MyGP 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6"/>
                </a:solidFill>
                <a:latin typeface="Nirmala UI"/>
              </a:rPr>
              <a:t>GP AI Bootcamp  ·  Skill সেতু (Career Compass)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E9F6E"/>
                </a:solidFill>
                <a:latin typeface="Segoe UI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2A"/>
                </a:solidFill>
                <a:latin typeface="Nirmala UI"/>
              </a:rPr>
              <a:t>Skill সেতু turns a confused student into a job-ready candidate — Bangla-first, low-data and free.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9748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807208"/>
            <a:ext cx="68580" cy="1609344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880360"/>
            <a:ext cx="29169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0B1F2A"/>
                </a:solidFill>
                <a:latin typeface="Segoe UI"/>
              </a:rPr>
              <a:t>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33756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Assess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721608"/>
            <a:ext cx="2916936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A 2-minute assessment maps interests, level and constraints.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269748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70832" y="2807208"/>
            <a:ext cx="68580" cy="1609344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2880360"/>
            <a:ext cx="29169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0B1F2A"/>
                </a:solidFill>
                <a:latin typeface="Segoe UI"/>
              </a:rPr>
              <a:t>🗺️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333756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3721608"/>
            <a:ext cx="2916936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AI builds a personalised, phased career roadmap.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3" y="269748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3" y="2807208"/>
            <a:ext cx="68580" cy="1609344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5" y="2880360"/>
            <a:ext cx="29169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0B1F2A"/>
                </a:solidFill>
                <a:latin typeface="Segoe UI"/>
              </a:rPr>
              <a:t>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5" y="333756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Educate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5" y="3721608"/>
            <a:ext cx="2916936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Higher-education paths + real scholarship recommendations.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75488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4864608"/>
            <a:ext cx="68580" cy="1609344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937760"/>
            <a:ext cx="29169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0B1F2A"/>
                </a:solidFill>
                <a:latin typeface="Segoe UI"/>
              </a:rPr>
              <a:t>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539496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Prepare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5779008"/>
            <a:ext cx="2916936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AI CV review with ATS score and a mock interviewer.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475488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70832" y="4864608"/>
            <a:ext cx="68580" cy="1609344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26864" y="4937760"/>
            <a:ext cx="29169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0B1F2A"/>
                </a:solidFill>
                <a:latin typeface="Segoe UI"/>
              </a:rPr>
              <a:t>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6864" y="539496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Connect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26864" y="5779008"/>
            <a:ext cx="2916936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Skill-matched jobs, gigs and freelancing routes.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1583" y="475488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01583" y="4864608"/>
            <a:ext cx="68580" cy="1609344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57615" y="4937760"/>
            <a:ext cx="29169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0B1F2A"/>
                </a:solidFill>
                <a:latin typeface="Segoe UI"/>
              </a:rPr>
              <a:t>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7615" y="539496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Track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7615" y="5779008"/>
            <a:ext cx="2916936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A progress dashboard that proves readiness.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C6B76"/>
                </a:solidFill>
                <a:latin typeface="Nirmala UI"/>
              </a:rPr>
              <a:t>Skill সেতু  ·  Career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9F6E"/>
                </a:solidFill>
                <a:latin typeface="Segoe UI"/>
              </a:rPr>
              <a:t>02 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F2A"/>
                </a:solidFill>
                <a:latin typeface="Segoe UI"/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502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5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B76"/>
                </a:solidFill>
                <a:latin typeface="Segoe UI"/>
              </a:rPr>
              <a:t>Four steps from confusion to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6"/>
                </a:solidFill>
                <a:latin typeface="Nirmala UI"/>
              </a:rPr>
              <a:t>GP AI Bootcamp  ·  Skill সেতু (Career Compass)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E9F6E"/>
                </a:solidFill>
                <a:latin typeface="Segoe UI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256032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788920"/>
            <a:ext cx="658368" cy="658368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Answer 8 quick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Interests, education, weekly time, English level, device.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2514600"/>
            <a:ext cx="256032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75887" y="2788920"/>
            <a:ext cx="658368" cy="658368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5887" y="27889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365760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AI builds your 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7" y="434340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5 learning phases + higher-ed &amp; scholarship paths.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2514600"/>
            <a:ext cx="256032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37376" y="2788920"/>
            <a:ext cx="658368" cy="658368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27889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65760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Learn, build a CV, practise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434340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AI CV review + AI mock interview in Bangla.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4544" y="2514600"/>
            <a:ext cx="256032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98864" y="2788920"/>
            <a:ext cx="658368" cy="658368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8864" y="278892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864" y="365760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Apply with confidence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4" y="434340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Matched jobs, gigs and scholarships.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C6B76"/>
                </a:solidFill>
                <a:latin typeface="Nirmala UI"/>
              </a:rPr>
              <a:t>Skill সেতু  ·  Career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9F6E"/>
                </a:solidFill>
                <a:latin typeface="Segoe UI"/>
              </a:rPr>
              <a:t>03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F2A"/>
                </a:solidFill>
                <a:latin typeface="Segoe UI"/>
              </a:rPr>
              <a:t>Product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502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5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B76"/>
                </a:solidFill>
                <a:latin typeface="Segoe UI"/>
              </a:rPr>
              <a:t>Seven working features — all AI-integrated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6"/>
                </a:solidFill>
                <a:latin typeface="Nirmala UI"/>
              </a:rPr>
              <a:t>GP AI Bootcamp  ·  Skill সেতু (Career Compass)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E9F6E"/>
                </a:solidFill>
                <a:latin typeface="Segoe UI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34290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441448"/>
            <a:ext cx="68580" cy="1517904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514600"/>
            <a:ext cx="29169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0B1F2A"/>
                </a:solidFill>
                <a:latin typeface="Segoe UI"/>
              </a:rPr>
              <a:t>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97180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Skill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355848"/>
            <a:ext cx="2916936" cy="640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8-question engine → profile + best-fit career tracks.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2331720"/>
            <a:ext cx="34290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70832" y="2441448"/>
            <a:ext cx="68580" cy="1517904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2514600"/>
            <a:ext cx="29169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0B1F2A"/>
                </a:solidFill>
                <a:latin typeface="Segoe UI"/>
              </a:rPr>
              <a:t>🗺️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297180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AI 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3355848"/>
            <a:ext cx="2916936" cy="640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Gemini returns a 5-phase plan with free resources.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3" y="2331720"/>
            <a:ext cx="34290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01583" y="2441448"/>
            <a:ext cx="68580" cy="1517904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5" y="2514600"/>
            <a:ext cx="29169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0B1F2A"/>
                </a:solidFill>
                <a:latin typeface="Segoe UI"/>
              </a:rPr>
              <a:t>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5" y="297180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Higher Ed + Scholarships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5" y="3355848"/>
            <a:ext cx="2916936" cy="640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Degree/diploma paths + 14 real, funded scholarships.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06240"/>
            <a:ext cx="34290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315968"/>
            <a:ext cx="68580" cy="1517904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389120"/>
            <a:ext cx="29169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0B1F2A"/>
                </a:solidFill>
                <a:latin typeface="Segoe UI"/>
              </a:rPr>
              <a:t>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84632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CV Review + ATS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5230368"/>
            <a:ext cx="2916936" cy="640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Rewritten bullets, missing keywords, ATS score.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206240"/>
            <a:ext cx="34290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70832" y="4315968"/>
            <a:ext cx="68580" cy="1517904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6864" y="4389120"/>
            <a:ext cx="29169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0B1F2A"/>
                </a:solidFill>
                <a:latin typeface="Segoe UI"/>
              </a:rPr>
              <a:t>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6864" y="484632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AI Mock Interview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6864" y="5230368"/>
            <a:ext cx="2916936" cy="640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Text interview with feedback and scoring.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1583" y="4206240"/>
            <a:ext cx="34290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01583" y="4315968"/>
            <a:ext cx="68580" cy="1517904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57615" y="4389120"/>
            <a:ext cx="29169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0B1F2A"/>
                </a:solidFill>
                <a:latin typeface="Segoe UI"/>
              </a:rPr>
              <a:t>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7615" y="484632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Jobs &amp; Gigs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7615" y="5230368"/>
            <a:ext cx="2916936" cy="640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Explainable skill-overlap matching.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6080760"/>
            <a:ext cx="10911535" cy="777240"/>
          </a:xfrm>
          <a:prstGeom prst="roundRect">
            <a:avLst>
              <a:gd name="adj" fmla="val 9000"/>
            </a:avLst>
          </a:prstGeom>
          <a:solidFill>
            <a:srgbClr val="E8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6080760"/>
            <a:ext cx="640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0B1F2A"/>
                </a:solidFill>
                <a:latin typeface="Segoe UI"/>
              </a:rPr>
              <a:t>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6080760"/>
            <a:ext cx="2377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AI Career Chat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0" y="6080760"/>
            <a:ext cx="7406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C6B76"/>
                </a:solidFill>
                <a:latin typeface="Segoe UI"/>
              </a:rPr>
              <a:t>Always-on assistant in Bangla or English — plus graceful demo-mode fallback so the product never breaks.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C6B76"/>
                </a:solidFill>
                <a:latin typeface="Nirmala UI"/>
              </a:rPr>
              <a:t>Skill সেতু  ·  Career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9F6E"/>
                </a:solidFill>
                <a:latin typeface="Segoe UI"/>
              </a:rPr>
              <a:t>03 PRODUCT · AI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F2A"/>
                </a:solidFill>
                <a:latin typeface="Segoe UI"/>
              </a:rPr>
              <a:t>Feature spotlight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502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5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B76"/>
                </a:solidFill>
                <a:latin typeface="Segoe UI"/>
              </a:rPr>
              <a:t>Personalised roadmap with higher-education &amp; scholarships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6"/>
                </a:solidFill>
                <a:latin typeface="Nirmala UI"/>
              </a:rPr>
              <a:t>GP AI Bootcamp  ·  Skill সেতু (Career Compass)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E9F6E"/>
                </a:solidFill>
                <a:latin typeface="Segoe UI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66751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Gemini generates a structured roadmap: 5 phases from beginner to job-ready.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Each phase includes skills, a milestone and links to free local resources.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Dedicated higher-education paths: degree, diploma, and free online certification.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Scholarship engine recommends real, funded programmes — Chevening, DAAD, MEXT, GKS, Fulbright and more.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Adapts to weekly time budget, English level, device and goal.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19" y="2103120"/>
            <a:ext cx="3931920" cy="3383280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3317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E9F6E"/>
                </a:solidFill>
                <a:latin typeface="Segoe UI"/>
              </a:rPr>
              <a:t>SAMPLE OUTPUT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863840" y="2651760"/>
          <a:ext cx="33832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 marL="109728" marR="109728" marT="27432" marB="27432" anchor="ctr">
                    <a:solidFill>
                      <a:srgbClr val="0E9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Focus</a:t>
                      </a:r>
                    </a:p>
                  </a:txBody>
                  <a:tcPr marL="109728" marR="109728" marT="27432" marB="27432" anchor="ctr">
                    <a:solidFill>
                      <a:srgbClr val="0E9F6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B1F2A"/>
                          </a:solidFill>
                          <a:latin typeface="Segoe UI"/>
                        </a:rPr>
                        <a:t>1–2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B1F2A"/>
                          </a:solidFill>
                          <a:latin typeface="Segoe UI"/>
                        </a:rPr>
                        <a:t>Foundations &amp; core skills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B1F2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B1F2A"/>
                          </a:solidFill>
                          <a:latin typeface="Segoe UI"/>
                        </a:rPr>
                        <a:t>Hands-on projects</a:t>
                      </a:r>
                    </a:p>
                  </a:txBody>
                  <a:tcPr marL="109728" marR="109728" marT="27432" marB="27432" anchor="ctr">
                    <a:solidFill>
                      <a:srgbClr val="F5F8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B1F2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B1F2A"/>
                          </a:solidFill>
                          <a:latin typeface="Segoe UI"/>
                        </a:rPr>
                        <a:t>Portfolio &amp; CV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B1F2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B1F2A"/>
                          </a:solidFill>
                          <a:latin typeface="Segoe UI"/>
                        </a:rPr>
                        <a:t>Job / client readiness</a:t>
                      </a:r>
                    </a:p>
                  </a:txBody>
                  <a:tcPr marL="109728" marR="109728" marT="27432" marB="27432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863840" y="50749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08A00"/>
                </a:solidFill>
                <a:latin typeface="Segoe UI"/>
              </a:rPr>
              <a:t>🏅 6 funded scholarships + 3 education paths attached to every roadmap.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C6B76"/>
                </a:solidFill>
                <a:latin typeface="Nirmala UI"/>
              </a:rPr>
              <a:t>Skill সেতু  ·  Career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9F6E"/>
                </a:solidFill>
                <a:latin typeface="Segoe UI"/>
              </a:rPr>
              <a:t>03 PRODUCT · AI 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F2A"/>
                </a:solidFill>
                <a:latin typeface="Segoe UI"/>
              </a:rPr>
              <a:t>Feature spotlight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502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5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B76"/>
                </a:solidFill>
                <a:latin typeface="Segoe UI"/>
              </a:rPr>
              <a:t>AI CV review with ATS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6"/>
                </a:solidFill>
                <a:latin typeface="Nirmala UI"/>
              </a:rPr>
              <a:t>GP AI Bootcamp  ·  Skill সেতু (Career Compass)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E9F6E"/>
                </a:solidFill>
                <a:latin typeface="Segoe UI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66751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User enters details; Gemini rewrites the summary and experience bullets.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Achievement-focused, action-verb bullets with numbers where possible.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Returns an ATS score (0–100) plus the exact keywords missing for the role.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Prioritised, concrete fixes — no fabricated employers or degrees.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Side-by-side view: original input vs improved output and score 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19" y="2103120"/>
            <a:ext cx="3931920" cy="3383280"/>
          </a:xfrm>
          <a:prstGeom prst="roundRect">
            <a:avLst>
              <a:gd name="adj" fmla="val 5000"/>
            </a:avLst>
          </a:prstGeom>
          <a:solidFill>
            <a:srgbClr val="E8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3774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E88E5"/>
                </a:solidFill>
                <a:latin typeface="Segoe UI"/>
              </a:rPr>
              <a:t>ATS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69748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1E88E5"/>
                </a:solidFill>
                <a:latin typeface="Segoe UI"/>
              </a:rPr>
              <a:t>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79476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2A"/>
                </a:solidFill>
                <a:latin typeface="Segoe UI"/>
              </a:rPr>
              <a:t>Missing keywords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114800"/>
            <a:ext cx="160020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4114800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C6B76"/>
                </a:solidFill>
                <a:latin typeface="Segoe UI"/>
              </a:rPr>
              <a:t>teamwork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4114800"/>
            <a:ext cx="160020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4114800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C6B76"/>
                </a:solidFill>
                <a:latin typeface="Segoe UI"/>
              </a:rPr>
              <a:t>problem solving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4572000"/>
            <a:ext cx="160020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572000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C6B76"/>
                </a:solidFill>
                <a:latin typeface="Segoe UI"/>
              </a:rPr>
              <a:t>portfolio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4572000"/>
            <a:ext cx="160020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4572000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C6B76"/>
                </a:solidFill>
                <a:latin typeface="Segoe UI"/>
              </a:rPr>
              <a:t>measurable result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C6B76"/>
                </a:solidFill>
                <a:latin typeface="Nirmala UI"/>
              </a:rPr>
              <a:t>Skill সেতু  ·  Career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9F6E"/>
                </a:solidFill>
                <a:latin typeface="Segoe UI"/>
              </a:rPr>
              <a:t>03 PRODUCT · AI INTERVIEW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F2A"/>
                </a:solidFill>
                <a:latin typeface="Segoe UI"/>
              </a:rPr>
              <a:t>Feature spotlight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502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5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B76"/>
                </a:solidFill>
                <a:latin typeface="Segoe UI"/>
              </a:rPr>
              <a:t>AI mock interviewer — practise without fear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6"/>
                </a:solidFill>
                <a:latin typeface="Nirmala UI"/>
              </a:rPr>
              <a:t>GP AI Bootcamp  ·  Skill সেতু (Career Compass)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E9F6E"/>
                </a:solidFill>
                <a:latin typeface="Segoe U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66751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Role-aware: questions are tailored to the user's target career track.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One question at a time, with short, constructive feedback on each answer.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Scores every answer out of 10 and shows an average at the end.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Runs in Bangla or English — lower anxiety, better practice.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Transcript and scores are logged for progress tracking.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19" y="2103120"/>
            <a:ext cx="3931920" cy="3383280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3317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E9F6E"/>
                </a:solidFill>
                <a:latin typeface="Segoe UI"/>
              </a:rPr>
              <a:t>INTERVIEW SIMULATION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697480"/>
            <a:ext cx="2926080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81635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0B1F2A"/>
                </a:solidFill>
                <a:latin typeface="Segoe UI"/>
              </a:rPr>
              <a:t>Interviewer: Explain the difference between HTML, CSS and JavaScript.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3566160"/>
            <a:ext cx="2788920" cy="731520"/>
          </a:xfrm>
          <a:prstGeom prst="roundRect">
            <a:avLst>
              <a:gd name="adj" fmla="val 15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59" y="3675887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FFFFFF"/>
                </a:solidFill>
                <a:latin typeface="Segoe UI"/>
              </a:rPr>
              <a:t>Candidate: HTML is structure, CSS is style, JavaScript adds behaviour…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4389120"/>
            <a:ext cx="3566160" cy="822960"/>
          </a:xfrm>
          <a:prstGeom prst="roundRect">
            <a:avLst>
              <a:gd name="adj" fmla="val 10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4526279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E08A00"/>
                </a:solidFill>
                <a:latin typeface="Segoe UI"/>
              </a:rPr>
              <a:t>💡 Good structure — add one concrete example of each.  ·  8/10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C6B76"/>
                </a:solidFill>
                <a:latin typeface="Nirmala UI"/>
              </a:rPr>
              <a:t>Skill সেতু  ·  Career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9F6E"/>
                </a:solidFill>
                <a:latin typeface="Segoe UI"/>
              </a:rPr>
              <a:t>03 PRODUCT ·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F2A"/>
                </a:solidFill>
                <a:latin typeface="Segoe UI"/>
              </a:rPr>
              <a:t>Feature spotlight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502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5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B76"/>
                </a:solidFill>
                <a:latin typeface="Segoe UI"/>
              </a:rPr>
              <a:t>Job &amp; gig matching + progress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6"/>
                </a:solidFill>
                <a:latin typeface="Nirmala UI"/>
              </a:rPr>
              <a:t>GP AI Bootcamp  ·  Skill সেতু (Career Compass)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E9F6E"/>
                </a:solidFill>
                <a:latin typeface="Segoe UI"/>
              </a:rPr>
              <a:t>11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286000"/>
          <a:ext cx="676656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691640"/>
                <a:gridCol w="169164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marL="109728" marR="109728" marT="27432" marB="27432" anchor="ctr">
                    <a:solidFill>
                      <a:srgbClr val="0E9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109728" marR="109728" marT="27432" marB="27432" anchor="ctr">
                    <a:solidFill>
                      <a:srgbClr val="0E9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Skills matched</a:t>
                      </a:r>
                    </a:p>
                  </a:txBody>
                  <a:tcPr marL="109728" marR="109728" marT="27432" marB="27432" anchor="ctr">
                    <a:solidFill>
                      <a:srgbClr val="0E9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Match</a:t>
                      </a:r>
                    </a:p>
                  </a:txBody>
                  <a:tcPr marL="109728" marR="109728" marT="27432" marB="27432" anchor="ctr">
                    <a:solidFill>
                      <a:srgbClr val="0E9F6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Junior Frontend Developer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Full-time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HTML · CSS · JavaScript · React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90%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Junior UI/UX Designer</a:t>
                      </a:r>
                    </a:p>
                  </a:txBody>
                  <a:tcPr marL="109728" marR="109728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Hybrid</a:t>
                      </a:r>
                    </a:p>
                  </a:txBody>
                  <a:tcPr marL="109728" marR="109728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Figma · UI Design · Prototyping</a:t>
                      </a:r>
                    </a:p>
                  </a:txBody>
                  <a:tcPr marL="109728" marR="109728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76%</a:t>
                      </a:r>
                    </a:p>
                  </a:txBody>
                  <a:tcPr marL="109728" marR="109728" marT="27432" marB="27432" anchor="ctr">
                    <a:solidFill>
                      <a:srgbClr val="F5F8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Virtual Assistant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Remote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Excel · English · Scheduling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62%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343400"/>
            <a:ext cx="67665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0E9F6E"/>
                </a:solidFill>
                <a:latin typeface="Segoe UI"/>
              </a:rPr>
              <a:t>▪  </a:t>
            </a:r>
            <a:r>
              <a:rPr sz="1250">
                <a:solidFill>
                  <a:srgbClr val="0B1F2A"/>
                </a:solidFill>
                <a:latin typeface="Segoe UI"/>
              </a:rPr>
              <a:t>Explainable matching: score = skill overlap + track relevance.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0E9F6E"/>
                </a:solidFill>
                <a:latin typeface="Segoe UI"/>
              </a:rPr>
              <a:t>▪  </a:t>
            </a:r>
            <a:r>
              <a:rPr sz="1250">
                <a:solidFill>
                  <a:srgbClr val="0B1F2A"/>
                </a:solidFill>
                <a:latin typeface="Segoe UI"/>
              </a:rPr>
              <a:t>Turns 'what should I learn' into 'what can I apply for today'.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0E9F6E"/>
                </a:solidFill>
                <a:latin typeface="Segoe UI"/>
              </a:rPr>
              <a:t>▪  </a:t>
            </a:r>
            <a:r>
              <a:rPr sz="1250">
                <a:solidFill>
                  <a:srgbClr val="0B1F2A"/>
                </a:solidFill>
                <a:latin typeface="Segoe UI"/>
              </a:rPr>
              <a:t>Dashboard tracks skill progress, career match and CV score.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0E9F6E"/>
                </a:solidFill>
                <a:latin typeface="Segoe UI"/>
              </a:rPr>
              <a:t>▪  </a:t>
            </a:r>
            <a:r>
              <a:rPr sz="1250">
                <a:solidFill>
                  <a:srgbClr val="0B1F2A"/>
                </a:solidFill>
                <a:latin typeface="Segoe UI"/>
              </a:rPr>
              <a:t>Cloud-synced to Postgres so progress is never lost.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103120"/>
            <a:ext cx="3794760" cy="3749039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28600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E9F6E"/>
                </a:solidFill>
                <a:latin typeface="Segoe UI"/>
              </a:rP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6974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2A"/>
                </a:solidFill>
                <a:latin typeface="Segoe UI"/>
              </a:rPr>
              <a:t>Career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62432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0E9F6E"/>
                </a:solidFill>
                <a:latin typeface="Segoe UI"/>
              </a:rPr>
              <a:t>82%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063240"/>
            <a:ext cx="3291840" cy="201168"/>
          </a:xfrm>
          <a:prstGeom prst="roundRect">
            <a:avLst>
              <a:gd name="adj" fmla="val 50000"/>
            </a:avLst>
          </a:prstGeom>
          <a:solidFill>
            <a:srgbClr val="E4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55279" y="3063240"/>
            <a:ext cx="2697480" cy="201168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6118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2A"/>
                </a:solidFill>
                <a:latin typeface="Segoe UI"/>
              </a:rPr>
              <a:t>CV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353872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1E88E5"/>
                </a:solidFill>
                <a:latin typeface="Segoe UI"/>
              </a:rPr>
              <a:t>62%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3977640"/>
            <a:ext cx="3291840" cy="201168"/>
          </a:xfrm>
          <a:prstGeom prst="roundRect">
            <a:avLst>
              <a:gd name="adj" fmla="val 50000"/>
            </a:avLst>
          </a:prstGeom>
          <a:solidFill>
            <a:srgbClr val="E4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79" y="3977640"/>
            <a:ext cx="2039112" cy="201168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45262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2A"/>
                </a:solidFill>
                <a:latin typeface="Segoe UI"/>
              </a:rPr>
              <a:t>Skill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445312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E08A00"/>
                </a:solidFill>
                <a:latin typeface="Segoe UI"/>
              </a:rPr>
              <a:t>40%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4892040"/>
            <a:ext cx="3291840" cy="201168"/>
          </a:xfrm>
          <a:prstGeom prst="roundRect">
            <a:avLst>
              <a:gd name="adj" fmla="val 50000"/>
            </a:avLst>
          </a:prstGeom>
          <a:solidFill>
            <a:srgbClr val="E4E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55279" y="4892040"/>
            <a:ext cx="1316736" cy="201168"/>
          </a:xfrm>
          <a:prstGeom prst="roundRect">
            <a:avLst>
              <a:gd name="adj" fmla="val 50000"/>
            </a:avLst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C6B76"/>
                </a:solidFill>
                <a:latin typeface="Nirmala UI"/>
              </a:rPr>
              <a:t>Skill সেতু  ·  Career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9F6E"/>
                </a:solidFill>
                <a:latin typeface="Segoe UI"/>
              </a:rPr>
              <a:t>04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F2A"/>
                </a:solidFill>
                <a:latin typeface="Segoe UI"/>
              </a:rPr>
              <a:t>AI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502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5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B76"/>
                </a:solidFill>
                <a:latin typeface="Segoe UI"/>
              </a:rPr>
              <a:t>Where the intelligence actually lives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6"/>
                </a:solidFill>
                <a:latin typeface="Nirmala UI"/>
              </a:rPr>
              <a:t>GP AI Bootcamp  ·  Skill সেতু (Career Compass)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E9F6E"/>
                </a:solidFill>
                <a:latin typeface="Segoe U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91839"/>
            <a:ext cx="2148840" cy="128016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2900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👤</a:t>
            </a:r>
          </a:p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Learner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71800" y="3794760"/>
            <a:ext cx="365760" cy="274320"/>
          </a:xfrm>
          <a:prstGeom prst="rightArrow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3291839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401568"/>
            <a:ext cx="2743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A7D57"/>
                </a:solidFill>
                <a:latin typeface="Segoe UI"/>
              </a:rPr>
              <a:t>Next.js 16</a:t>
            </a:r>
          </a:p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A7D57"/>
                </a:solidFill>
                <a:latin typeface="Segoe UI"/>
              </a:rPr>
              <a:t>App Router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355080" y="3108960"/>
            <a:ext cx="365760" cy="274320"/>
          </a:xfrm>
          <a:prstGeom prst="rightArrow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6355080" y="4480560"/>
            <a:ext cx="365760" cy="274320"/>
          </a:xfrm>
          <a:prstGeom prst="rightArrow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03720" y="2514600"/>
            <a:ext cx="4023360" cy="1097280"/>
          </a:xfrm>
          <a:prstGeom prst="roundRect">
            <a:avLst>
              <a:gd name="adj" fmla="val 6000"/>
            </a:avLst>
          </a:prstGeom>
          <a:solidFill>
            <a:srgbClr val="E8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265176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E88E5"/>
                </a:solidFill>
                <a:latin typeface="Segoe UI"/>
              </a:rPr>
              <a:t>✨ Google Gemini 2.5 Flash</a:t>
            </a:r>
          </a:p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E88E5"/>
                </a:solidFill>
                <a:latin typeface="Segoe UI"/>
              </a:rPr>
              <a:t>Roadmap · CV review · interview · chat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4069079"/>
            <a:ext cx="4023360" cy="1097280"/>
          </a:xfrm>
          <a:prstGeom prst="roundRect">
            <a:avLst>
              <a:gd name="adj" fmla="val 6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420624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08A00"/>
                </a:solidFill>
                <a:latin typeface="Segoe UI"/>
              </a:rPr>
              <a:t>🐘 Neon PostgreSQL</a:t>
            </a:r>
          </a:p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08A00"/>
                </a:solidFill>
                <a:latin typeface="Segoe UI"/>
              </a:rPr>
              <a:t>Profiles · roadmaps · events (JSONB)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C6B76"/>
                </a:solidFill>
                <a:latin typeface="Segoe UI"/>
              </a:rPr>
              <a:t>API routes: /api/roadmap  ·  /api/resume  ·  /api/interview  ·  /api/chat  ·  /api/state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C6B76"/>
                </a:solidFill>
                <a:latin typeface="Segoe UI"/>
              </a:rPr>
              <a:t>Graceful degradation: if the AI key is absent or a request fails, curated fallback content is served and flagged as demo mode.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C6B76"/>
                </a:solidFill>
                <a:latin typeface="Nirmala UI"/>
              </a:rPr>
              <a:t>Skill সেতু  ·  Career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9F6E"/>
                </a:solidFill>
                <a:latin typeface="Segoe UI"/>
              </a:rPr>
              <a:t>04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F2A"/>
                </a:solidFill>
                <a:latin typeface="Segoe UI"/>
              </a:rPr>
              <a:t>Data model — Neon PostgreSQL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502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5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B76"/>
                </a:solidFill>
                <a:latin typeface="Segoe UI"/>
              </a:rPr>
              <a:t>Serverless Postgres, free tier, zero migrations to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6"/>
                </a:solidFill>
                <a:latin typeface="Nirmala UI"/>
              </a:rPr>
              <a:t>GP AI Bootcamp  ·  Skill সেতু (Career Compass)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E9F6E"/>
                </a:solidFill>
                <a:latin typeface="Segoe UI"/>
              </a:rPr>
              <a:t>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286000"/>
          <a:ext cx="1091153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Table</a:t>
                      </a:r>
                    </a:p>
                  </a:txBody>
                  <a:tcPr marL="109728" marR="109728" marT="27432" marB="27432" anchor="ctr">
                    <a:solidFill>
                      <a:srgbClr val="0E9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 marL="109728" marR="109728" marT="27432" marB="27432" anchor="ctr">
                    <a:solidFill>
                      <a:srgbClr val="0E9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Key fields</a:t>
                      </a:r>
                    </a:p>
                  </a:txBody>
                  <a:tcPr marL="109728" marR="109728" marT="27432" marB="27432" anchor="ctr">
                    <a:solidFill>
                      <a:srgbClr val="0E9F6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B1F2A"/>
                          </a:solidFill>
                          <a:latin typeface="Segoe UI"/>
                        </a:rPr>
                        <a:t>learners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B1F2A"/>
                          </a:solidFill>
                          <a:latin typeface="Segoe UI"/>
                        </a:rPr>
                        <a:t>One row per anonymous learner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B1F2A"/>
                          </a:solidFill>
                          <a:latin typeface="Segoe UI"/>
                        </a:rPr>
                        <a:t>id (uuid), language, goal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B1F2A"/>
                          </a:solidFill>
                          <a:latin typeface="Segoe UI"/>
                        </a:rPr>
                        <a:t>saved_states</a:t>
                      </a:r>
                    </a:p>
                  </a:txBody>
                  <a:tcPr marL="109728" marR="109728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B1F2A"/>
                          </a:solidFill>
                          <a:latin typeface="Segoe UI"/>
                        </a:rPr>
                        <a:t>Synced app snapshot</a:t>
                      </a:r>
                    </a:p>
                  </a:txBody>
                  <a:tcPr marL="109728" marR="109728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B1F2A"/>
                          </a:solidFill>
                          <a:latin typeface="Segoe UI"/>
                        </a:rPr>
                        <a:t>learner_id, state (JSONB)</a:t>
                      </a:r>
                    </a:p>
                  </a:txBody>
                  <a:tcPr marL="109728" marR="109728" marT="27432" marB="27432" anchor="ctr">
                    <a:solidFill>
                      <a:srgbClr val="F5F8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B1F2A"/>
                          </a:solidFill>
                          <a:latin typeface="Segoe UI"/>
                        </a:rPr>
                        <a:t>events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B1F2A"/>
                          </a:solidFill>
                          <a:latin typeface="Segoe UI"/>
                        </a:rPr>
                        <a:t>Append-only activity log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B1F2A"/>
                          </a:solidFill>
                          <a:latin typeface="Segoe UI"/>
                        </a:rPr>
                        <a:t>learner_id, type, payload (JSONB)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572000"/>
            <a:ext cx="1091153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0E9F6E"/>
                </a:solidFill>
                <a:latin typeface="Segoe UI"/>
              </a:rPr>
              <a:t>▪  </a:t>
            </a:r>
            <a:r>
              <a:rPr sz="1250">
                <a:solidFill>
                  <a:srgbClr val="0B1F2A"/>
                </a:solidFill>
                <a:latin typeface="Segoe UI"/>
              </a:rPr>
              <a:t>Each browser gets a long-lived, HTTP-only learner cookie (anonymous identity).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0E9F6E"/>
                </a:solidFill>
                <a:latin typeface="Segoe UI"/>
              </a:rPr>
              <a:t>▪  </a:t>
            </a:r>
            <a:r>
              <a:rPr sz="1250">
                <a:solidFill>
                  <a:srgbClr val="0B1F2A"/>
                </a:solidFill>
                <a:latin typeface="Segoe UI"/>
              </a:rPr>
              <a:t>GET /api/state hydrates the app from Postgres; POST /api/state upserts it.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0E9F6E"/>
                </a:solidFill>
                <a:latin typeface="Segoe UI"/>
              </a:rPr>
              <a:t>▪  </a:t>
            </a:r>
            <a:r>
              <a:rPr sz="1250">
                <a:solidFill>
                  <a:srgbClr val="0B1F2A"/>
                </a:solidFill>
                <a:latin typeface="Segoe UI"/>
              </a:rPr>
              <a:t>Client syncs on a 900 ms debounce; falls back to localStorage if Neon is unreachable.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0E9F6E"/>
                </a:solidFill>
                <a:latin typeface="Segoe UI"/>
              </a:rPr>
              <a:t>▪  </a:t>
            </a:r>
            <a:r>
              <a:rPr sz="1250">
                <a:solidFill>
                  <a:srgbClr val="0B1F2A"/>
                </a:solidFill>
                <a:latin typeface="Segoe UI"/>
              </a:rPr>
              <a:t>Every roadmap, CV and interview answer is appended to the events table for analytics.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1">
                <a:solidFill>
                  <a:srgbClr val="0E9F6E"/>
                </a:solidFill>
                <a:latin typeface="Segoe UI"/>
              </a:rPr>
              <a:t>▪  </a:t>
            </a:r>
            <a:r>
              <a:rPr sz="1250">
                <a:solidFill>
                  <a:srgbClr val="0B1F2A"/>
                </a:solidFill>
                <a:latin typeface="Segoe UI"/>
              </a:rPr>
              <a:t>Schema auto-creates on first request — db/schema.sql is provided for manual setup.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C6B76"/>
                </a:solidFill>
                <a:latin typeface="Nirmala UI"/>
              </a:rPr>
              <a:t>Skill সেতু  ·  Career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9F6E"/>
                </a:solidFill>
                <a:latin typeface="Segoe UI"/>
              </a:rPr>
              <a:t>05 TECH &amp;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F2A"/>
                </a:solidFill>
                <a:latin typeface="Segoe UI"/>
              </a:rPr>
              <a:t>Tech stack — and it costs $0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502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5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B76"/>
                </a:solidFill>
                <a:latin typeface="Segoe UI"/>
              </a:rPr>
              <a:t>Every layer uses a free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6"/>
                </a:solidFill>
                <a:latin typeface="Nirmala UI"/>
              </a:rPr>
              <a:t>GP AI Bootcamp  ·  Skill সেতু (Career Compass)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E9F6E"/>
                </a:solidFill>
                <a:latin typeface="Segoe UI"/>
              </a:rPr>
              <a:t>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240279"/>
          <a:ext cx="6675120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040"/>
                <a:gridCol w="2225040"/>
                <a:gridCol w="2225040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marL="109728" marR="109728" marT="27432" marB="27432" anchor="ctr">
                    <a:solidFill>
                      <a:srgbClr val="0E9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Technology</a:t>
                      </a:r>
                    </a:p>
                  </a:txBody>
                  <a:tcPr marL="109728" marR="109728" marT="27432" marB="27432" anchor="ctr">
                    <a:solidFill>
                      <a:srgbClr val="0E9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Cost</a:t>
                      </a:r>
                    </a:p>
                  </a:txBody>
                  <a:tcPr marL="109728" marR="109728" marT="27432" marB="27432" anchor="ctr">
                    <a:solidFill>
                      <a:srgbClr val="0E9F6E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Framework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Next.js 16, React 19, TypeScript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$0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Styling</a:t>
                      </a:r>
                    </a:p>
                  </a:txBody>
                  <a:tcPr marL="109728" marR="109728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Tailwind CSS v4 + custom design system</a:t>
                      </a:r>
                    </a:p>
                  </a:txBody>
                  <a:tcPr marL="109728" marR="109728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$0</a:t>
                      </a:r>
                    </a:p>
                  </a:txBody>
                  <a:tcPr marL="109728" marR="109728" marT="27432" marB="27432" anchor="ctr">
                    <a:solidFill>
                      <a:srgbClr val="F5F8F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AI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Google Gemini 2.5 Flash (free tier)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$0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Database</a:t>
                      </a:r>
                    </a:p>
                  </a:txBody>
                  <a:tcPr marL="109728" marR="109728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Neon serverless PostgreSQL</a:t>
                      </a:r>
                    </a:p>
                  </a:txBody>
                  <a:tcPr marL="109728" marR="109728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$0</a:t>
                      </a:r>
                    </a:p>
                  </a:txBody>
                  <a:tcPr marL="109728" marR="109728" marT="27432" marB="27432" anchor="ctr">
                    <a:solidFill>
                      <a:srgbClr val="F5F8F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Hosting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Vercel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$0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Repo / CI</a:t>
                      </a:r>
                    </a:p>
                  </a:txBody>
                  <a:tcPr marL="109728" marR="109728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GitHub + auto-deploy</a:t>
                      </a:r>
                    </a:p>
                  </a:txBody>
                  <a:tcPr marL="109728" marR="109728" marT="27432" marB="27432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$0</a:t>
                      </a:r>
                    </a:p>
                  </a:txBody>
                  <a:tcPr marL="109728" marR="109728" marT="27432" marB="27432" anchor="ctr">
                    <a:solidFill>
                      <a:srgbClr val="F5F8F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Fully functional product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F2A"/>
                          </a:solidFill>
                          <a:latin typeface="Segoe UI"/>
                        </a:rPr>
                        <a:t>$0.00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680960" y="2240279"/>
            <a:ext cx="3840480" cy="3520440"/>
          </a:xfrm>
          <a:prstGeom prst="roundRect">
            <a:avLst>
              <a:gd name="adj" fmla="val 5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2468879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A7D57"/>
                </a:solidFill>
                <a:latin typeface="Segoe UI"/>
              </a:rPr>
              <a:t>WHY IT'S 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880360"/>
            <a:ext cx="33832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150" b="1">
                <a:solidFill>
                  <a:srgbClr val="0A7D57"/>
                </a:solidFill>
                <a:latin typeface="Segoe UI"/>
              </a:rPr>
              <a:t>▪  </a:t>
            </a:r>
            <a:r>
              <a:rPr sz="1150">
                <a:solidFill>
                  <a:srgbClr val="0B1F2A"/>
                </a:solidFill>
                <a:latin typeface="Segoe UI"/>
              </a:rPr>
              <a:t>No paid APIs, no servers to rent.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150" b="1">
                <a:solidFill>
                  <a:srgbClr val="0A7D57"/>
                </a:solidFill>
                <a:latin typeface="Segoe UI"/>
              </a:rPr>
              <a:t>▪  </a:t>
            </a:r>
            <a:r>
              <a:rPr sz="1150">
                <a:solidFill>
                  <a:srgbClr val="0B1F2A"/>
                </a:solidFill>
                <a:latin typeface="Segoe UI"/>
              </a:rPr>
              <a:t>Serverless: pay-as-you-go tiers cover MVP usage.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150" b="1">
                <a:solidFill>
                  <a:srgbClr val="0A7D57"/>
                </a:solidFill>
                <a:latin typeface="Segoe UI"/>
              </a:rPr>
              <a:t>▪  </a:t>
            </a:r>
            <a:r>
              <a:rPr sz="1150">
                <a:solidFill>
                  <a:srgbClr val="0B1F2A"/>
                </a:solidFill>
                <a:latin typeface="Segoe UI"/>
              </a:rPr>
              <a:t>Smart caching + demo fallback protect free quotas.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150" b="1">
                <a:solidFill>
                  <a:srgbClr val="0A7D57"/>
                </a:solidFill>
                <a:latin typeface="Segoe UI"/>
              </a:rPr>
              <a:t>▪  </a:t>
            </a:r>
            <a:r>
              <a:rPr sz="1150">
                <a:solidFill>
                  <a:srgbClr val="0B1F2A"/>
                </a:solidFill>
                <a:latin typeface="Segoe UI"/>
              </a:rPr>
              <a:t>Scales on the same stack when traffic grows.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C6B76"/>
                </a:solidFill>
                <a:latin typeface="Nirmala UI"/>
              </a:rPr>
              <a:t>Skill সেতু  ·  Career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9F6E"/>
                </a:solidFill>
                <a:latin typeface="Segoe UI"/>
              </a:rPr>
              <a:t>05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F2A"/>
                </a:solidFill>
                <a:latin typeface="Segoe UI"/>
              </a:rPr>
              <a:t>UI / UX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502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5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B76"/>
                </a:solidFill>
                <a:latin typeface="Segoe UI"/>
              </a:rPr>
              <a:t>Designed for real Bangladeshi users, not for a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6"/>
                </a:solidFill>
                <a:latin typeface="Nirmala UI"/>
              </a:rPr>
              <a:t>GP AI Bootcamp  ·  Skill সেতু (Career Compass)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E9F6E"/>
                </a:solidFill>
                <a:latin typeface="Segoe U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441448"/>
            <a:ext cx="68580" cy="1655063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514600"/>
            <a:ext cx="29169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0B1F2A"/>
                </a:solidFill>
                <a:latin typeface="Segoe UI"/>
              </a:rPr>
              <a:t>🇧🇩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97180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Bangla-first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355848"/>
            <a:ext cx="2916936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Bangla default, one-tap English toggle everywhere.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233172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70832" y="2441448"/>
            <a:ext cx="68580" cy="1655063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2514600"/>
            <a:ext cx="29169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0B1F2A"/>
                </a:solidFill>
                <a:latin typeface="Segoe UI"/>
              </a:rPr>
              <a:t>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297180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Low-data friendly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3355848"/>
            <a:ext cx="2916936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Small payloads, works on modest connections.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3" y="233172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01583" y="2441448"/>
            <a:ext cx="68580" cy="1655063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5" y="2514600"/>
            <a:ext cx="29169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0B1F2A"/>
                </a:solidFill>
                <a:latin typeface="Segoe UI"/>
              </a:rP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5" y="297180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Mobile-first PWA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5" y="3355848"/>
            <a:ext cx="2916936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App-like shell with bottom navigation, installable.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43484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544568"/>
            <a:ext cx="68580" cy="1655063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617720"/>
            <a:ext cx="29169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0B1F2A"/>
                </a:solidFill>
                <a:latin typeface="Segoe UI"/>
              </a:rPr>
              <a:t>👁️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07492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Visual, low-text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5458968"/>
            <a:ext cx="2916936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Progress rings, bars and step cards, not walls of text.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43484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70832" y="4544568"/>
            <a:ext cx="68580" cy="1655063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6864" y="4617720"/>
            <a:ext cx="29169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0B1F2A"/>
                </a:solidFill>
                <a:latin typeface="Segoe UI"/>
              </a:rPr>
              <a:t>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6864" y="507492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Accessible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6864" y="5458968"/>
            <a:ext cx="2916936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Large tap targets, clear icons, plain language.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1583" y="443484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01583" y="4544568"/>
            <a:ext cx="68580" cy="1655063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57615" y="4617720"/>
            <a:ext cx="29169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0B1F2A"/>
                </a:solidFill>
                <a:latin typeface="Segoe UI"/>
              </a:rPr>
              <a:t>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7615" y="507492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2A"/>
                </a:solidFill>
                <a:latin typeface="Segoe UI"/>
              </a:rPr>
              <a:t>Trustworthy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7615" y="5458968"/>
            <a:ext cx="2916936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Clean, modern palette; clear AI/demo labelling.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C6B76"/>
                </a:solidFill>
                <a:latin typeface="Nirmala UI"/>
              </a:rPr>
              <a:t>Skill সেতু  ·  Career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9F6E"/>
                </a:solidFill>
                <a:latin typeface="Segoe UI"/>
              </a:rPr>
              <a:t>05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F2A"/>
                </a:solidFill>
                <a:latin typeface="Segoe UI"/>
              </a:rPr>
              <a:t>Product walkthrough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502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5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B76"/>
                </a:solidFill>
                <a:latin typeface="Segoe UI"/>
              </a:rPr>
              <a:t>Seven screens, one continuous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6"/>
                </a:solidFill>
                <a:latin typeface="Nirmala UI"/>
              </a:rPr>
              <a:t>GP AI Bootcamp  ·  Skill সেতু (Career Compass)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E9F6E"/>
                </a:solidFill>
                <a:latin typeface="Segoe U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1371600" cy="22860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1" y="2852928"/>
            <a:ext cx="1042415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852928"/>
            <a:ext cx="1042415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E9F6E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83479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1F2A"/>
                </a:solidFill>
                <a:latin typeface="Segoe UI"/>
              </a:rPr>
              <a:t>Home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12848" y="2651760"/>
            <a:ext cx="1371600" cy="22860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77440" y="2852928"/>
            <a:ext cx="1042415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2852928"/>
            <a:ext cx="1042415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E9F6E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4983479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1F2A"/>
                </a:solidFill>
                <a:latin typeface="Segoe UI"/>
              </a:rPr>
              <a:t>Assessment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85615" y="2651760"/>
            <a:ext cx="1371600" cy="22860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950207" y="2852928"/>
            <a:ext cx="1042415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0207" y="2852928"/>
            <a:ext cx="1042415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E9F6E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5615" y="4983479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1F2A"/>
                </a:solidFill>
                <a:latin typeface="Segoe UI"/>
              </a:rPr>
              <a:t>Roadmap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58384" y="2651760"/>
            <a:ext cx="1371600" cy="22860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522976" y="2852928"/>
            <a:ext cx="1042415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22976" y="2852928"/>
            <a:ext cx="1042415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E9F6E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58384" y="4983479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1F2A"/>
                </a:solidFill>
                <a:latin typeface="Segoe UI"/>
              </a:rPr>
              <a:t>CV 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31152" y="2651760"/>
            <a:ext cx="1371600" cy="22860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95744" y="2852928"/>
            <a:ext cx="1042415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95744" y="2852928"/>
            <a:ext cx="1042415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E9F6E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4983479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1F2A"/>
                </a:solidFill>
                <a:latin typeface="Segoe UI"/>
              </a:rPr>
              <a:t>Interview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19" y="2651760"/>
            <a:ext cx="1371600" cy="22860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68511" y="2852928"/>
            <a:ext cx="1042415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68511" y="2852928"/>
            <a:ext cx="1042415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E9F6E"/>
                </a:solidFill>
                <a:latin typeface="Segoe U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9" y="4983479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1F2A"/>
                </a:solidFill>
                <a:latin typeface="Segoe UI"/>
              </a:rPr>
              <a:t>Jobs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76688" y="2651760"/>
            <a:ext cx="1371600" cy="22860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241280" y="2852928"/>
            <a:ext cx="1042415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0" y="2852928"/>
            <a:ext cx="1042415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E9F6E"/>
                </a:solidFill>
                <a:latin typeface="Segoe U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76688" y="4983479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1F2A"/>
                </a:solidFill>
                <a:latin typeface="Segoe UI"/>
              </a:rPr>
              <a:t>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5C6B76"/>
                </a:solidFill>
                <a:latin typeface="Segoe UI"/>
              </a:rPr>
              <a:t>A learner can go from zero knowledge to a scored CV, a practised interview and a matched job list — entirely in Bangla, on a phone.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C6B76"/>
                </a:solidFill>
                <a:latin typeface="Nirmala UI"/>
              </a:rPr>
              <a:t>Skill সেতু  ·  Career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9F6E"/>
                </a:solidFill>
                <a:latin typeface="Segoe UI"/>
              </a:rPr>
              <a:t>06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F2A"/>
                </a:solidFill>
                <a:latin typeface="Segoe UI"/>
              </a:rPr>
              <a:t>Feasibility &amp; scalability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502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5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B76"/>
                </a:solidFill>
                <a:latin typeface="Segoe UI"/>
              </a:rPr>
              <a:t>It's built, deployed and proven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6"/>
                </a:solidFill>
                <a:latin typeface="Nirmala UI"/>
              </a:rPr>
              <a:t>GP AI Bootcamp  ·  Skill সেতু (Career Compass)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E9F6E"/>
                </a:solidFill>
                <a:latin typeface="Segoe U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77440"/>
            <a:ext cx="5257800" cy="1920240"/>
          </a:xfrm>
          <a:prstGeom prst="roundRect">
            <a:avLst>
              <a:gd name="adj" fmla="val 5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265176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B1F2A"/>
                </a:solidFill>
                <a:latin typeface="Segoe UI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39" y="26974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2A"/>
                </a:solidFill>
                <a:latin typeface="Segoe UI"/>
              </a:rPr>
              <a:t>Built &amp; 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39" y="3154680"/>
            <a:ext cx="3977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6"/>
                </a:solidFill>
                <a:latin typeface="Segoe UI"/>
              </a:rPr>
              <a:t>15 routes, 7 modules, production build passing.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377440"/>
            <a:ext cx="5257800" cy="1920240"/>
          </a:xfrm>
          <a:prstGeom prst="roundRect">
            <a:avLst>
              <a:gd name="adj" fmla="val 5000"/>
            </a:avLst>
          </a:prstGeom>
          <a:solidFill>
            <a:srgbClr val="E8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65176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B1F2A"/>
                </a:solidFill>
                <a:latin typeface="Segoe UI"/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6974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2A"/>
                </a:solidFill>
                <a:latin typeface="Segoe UI"/>
              </a:rPr>
              <a:t>Fast &amp; cheap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154680"/>
            <a:ext cx="3977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6"/>
                </a:solidFill>
                <a:latin typeface="Segoe UI"/>
              </a:rPr>
              <a:t>Serverless on Vercel; AI calls are cached and degrade gracefully.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26280"/>
            <a:ext cx="5257800" cy="1920240"/>
          </a:xfrm>
          <a:prstGeom prst="roundRect">
            <a:avLst>
              <a:gd name="adj" fmla="val 5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48006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B1F2A"/>
                </a:solidFill>
                <a:latin typeface="Segoe UI"/>
              </a:rP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39" y="48463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2A"/>
                </a:solidFill>
                <a:latin typeface="Segoe UI"/>
              </a:rPr>
              <a:t>Scalable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39" y="5303520"/>
            <a:ext cx="3977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6"/>
                </a:solidFill>
                <a:latin typeface="Segoe UI"/>
              </a:rPr>
              <a:t>Stateless app + managed Postgres scales with demand.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526280"/>
            <a:ext cx="5257800" cy="1920240"/>
          </a:xfrm>
          <a:prstGeom prst="roundRect">
            <a:avLst>
              <a:gd name="adj" fmla="val 5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8006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B1F2A"/>
                </a:solidFill>
                <a:latin typeface="Segoe UI"/>
              </a:rP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8463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2A"/>
                </a:solidFill>
                <a:latin typeface="Segoe UI"/>
              </a:rPr>
              <a:t>Privacy-aware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303520"/>
            <a:ext cx="3977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6"/>
                </a:solidFill>
                <a:latin typeface="Segoe UI"/>
              </a:rPr>
              <a:t>Anonymous identity, HTTP-only cookies, no PII required.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C6B76"/>
                </a:solidFill>
                <a:latin typeface="Nirmala UI"/>
              </a:rPr>
              <a:t>Skill সেতু  ·  Career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9F6E"/>
                </a:solidFill>
                <a:latin typeface="Segoe UI"/>
              </a:rPr>
              <a:t>06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F2A"/>
                </a:solidFill>
                <a:latin typeface="Segoe UI"/>
              </a:rPr>
              <a:t>Impact — what success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502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6"/>
                </a:solidFill>
                <a:latin typeface="Nirmala UI"/>
              </a:rPr>
              <a:t>GP AI Bootcamp  ·  Skill সেতু (Career Compass)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E9F6E"/>
                </a:solidFill>
                <a:latin typeface="Segoe U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52578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2176272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E9F6E"/>
                </a:solidFill>
                <a:latin typeface="Segoe UI"/>
              </a:rPr>
              <a:t>2M+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40280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6"/>
                </a:solidFill>
                <a:latin typeface="Segoe UI"/>
              </a:rPr>
              <a:t>youth entering the market yearly — our reachable audience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20240"/>
            <a:ext cx="52578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76272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E9F6E"/>
                </a:solidFill>
                <a:latin typeface="Segoe UI"/>
              </a:rPr>
              <a:t>$0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240280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6"/>
                </a:solidFill>
                <a:latin typeface="Segoe UI"/>
              </a:rPr>
              <a:t>cost to a learner, forever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20440"/>
            <a:ext cx="52578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3776472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E9F6E"/>
                </a:solidFill>
                <a:latin typeface="Segoe UI"/>
              </a:rPr>
              <a:t>&lt; 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840480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6"/>
                </a:solidFill>
                <a:latin typeface="Segoe UI"/>
              </a:rPr>
              <a:t>from sign-up to a personalised roadmap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520440"/>
            <a:ext cx="52578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776472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E9F6E"/>
                </a:solidFill>
                <a:latin typeface="Segoe UI"/>
              </a:rPr>
              <a:t>3-in-1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840480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6"/>
                </a:solidFill>
                <a:latin typeface="Segoe UI"/>
              </a:rPr>
              <a:t>skills + higher education + jobs in one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57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B1F2A"/>
                </a:solidFill>
                <a:latin typeface="Segoe UI"/>
              </a:rPr>
              <a:t>Outcome: a measurable jump in 'readiness to apply' for users who previously had no guidance at all.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C6B76"/>
                </a:solidFill>
                <a:latin typeface="Nirmala UI"/>
              </a:rPr>
              <a:t>Skill সেতু  ·  Career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9F6E"/>
                </a:solidFill>
                <a:latin typeface="Segoe UI"/>
              </a:rPr>
              <a:t>06 MYGP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F2A"/>
                </a:solidFill>
                <a:latin typeface="Segoe UI"/>
              </a:rPr>
              <a:t>Why it belongs in the MyGP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502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5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B76"/>
                </a:solidFill>
                <a:latin typeface="Segoe UI"/>
              </a:rPr>
              <a:t>Distribution + engagement for Grameenphone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6"/>
                </a:solidFill>
                <a:latin typeface="Nirmala UI"/>
              </a:rPr>
              <a:t>GP AI Bootcamp  ·  Skill সেতু (Career Compass)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E9F6E"/>
                </a:solidFill>
                <a:latin typeface="Segoe U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67208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MyGP already reaches millions of users — a ready-made distribution channel for skill development.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Turns a recharge/bill app into a 'life platform' that grows young users' earning power.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Cross-sell potential: data packs for learning, rewards for milestones, partner courses.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Rich, consented skill data can power CSR reporting on youth employability.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Retention: a career journey gives users a reason to return weekly, not just at recharge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103120"/>
            <a:ext cx="3913632" cy="3383280"/>
          </a:xfrm>
          <a:prstGeom prst="roundRect">
            <a:avLst>
              <a:gd name="adj" fmla="val 5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37744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A7D57"/>
                </a:solidFill>
                <a:latin typeface="Segoe UI"/>
              </a:rPr>
              <a:t>VALUE EXCHANGE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39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2A"/>
                </a:solidFill>
                <a:latin typeface="Segoe UI"/>
              </a:rPr>
              <a:t>For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09067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Free skills, guidance &amp; jobs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520439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2A"/>
                </a:solidFill>
                <a:latin typeface="Segoe UI"/>
              </a:rPr>
              <a:t>For GP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77647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Engagement, retention &amp; CSR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062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2A"/>
                </a:solidFill>
                <a:latin typeface="Segoe UI"/>
              </a:rPr>
              <a:t>For employers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46227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Better-matched candidates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8920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2A"/>
                </a:solidFill>
                <a:latin typeface="Segoe UI"/>
              </a:rPr>
              <a:t>For Bangladesh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14807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A skilled, employed youth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C6B76"/>
                </a:solidFill>
                <a:latin typeface="Nirmala UI"/>
              </a:rPr>
              <a:t>Skill সেতু  ·  Career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9F6E"/>
                </a:solidFill>
                <a:latin typeface="Segoe UI"/>
              </a:rPr>
              <a:t>06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F2A"/>
                </a:solidFill>
                <a:latin typeface="Segoe UI"/>
              </a:rPr>
              <a:t>What we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502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5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B76"/>
                </a:solidFill>
                <a:latin typeface="Segoe UI"/>
              </a:rPr>
              <a:t>MVP complete, AI-integrated, deployed via GitHub → Vercel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6"/>
                </a:solidFill>
                <a:latin typeface="Nirmala UI"/>
              </a:rPr>
              <a:t>GP AI Bootcamp  ·  Skill সেতু (Career Compass)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E9F6E"/>
                </a:solidFill>
                <a:latin typeface="Segoe U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66751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Next.js 16 (App Router) + React 19 + TypeScript + Tailwind v4 — 15 routes.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7 user-facing modules and 5 API endpoints, all AI-integrated.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Google Gemini for roadmap, CV, interview and chat; curated demo fallback throughout.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Neon PostgreSQL persistence with anonymous identity and activity analytics.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0E9F6E"/>
                </a:solidFill>
                <a:latin typeface="Segoe UI"/>
              </a:rPr>
              <a:t>▪  </a:t>
            </a:r>
            <a:r>
              <a:rPr sz="1300">
                <a:solidFill>
                  <a:srgbClr val="0B1F2A"/>
                </a:solidFill>
                <a:latin typeface="Segoe UI"/>
              </a:rPr>
              <a:t>Production build passing; TypeScript clean; live end-to-end DB test verified.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19" y="2103120"/>
            <a:ext cx="3959352" cy="3383280"/>
          </a:xfrm>
          <a:prstGeom prst="roundRect">
            <a:avLst>
              <a:gd name="adj" fmla="val 5000"/>
            </a:avLst>
          </a:prstGeom>
          <a:solidFill>
            <a:srgbClr val="07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42316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9F6E"/>
                </a:solidFill>
                <a:latin typeface="Segoe UI"/>
              </a:rPr>
              <a:t>LINKS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39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108960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github.com/RajinShahriar10/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Career-Compass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8620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1605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Neon PostgreSQL (free tier)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61772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C6B76"/>
                </a:solidFill>
                <a:latin typeface="Segoe UI"/>
              </a:rPr>
              <a:t>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920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Vercel (free tier)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C6B76"/>
                </a:solidFill>
                <a:latin typeface="Nirmala UI"/>
              </a:rPr>
              <a:t>Skill সেতু  ·  Career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9F6E"/>
                </a:solidFill>
                <a:latin typeface="Segoe UI"/>
              </a:rPr>
              <a:t>06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1F2A"/>
                </a:solidFill>
                <a:latin typeface="Segoe UI"/>
              </a:rPr>
              <a:t>What's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822960" cy="502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5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B76"/>
                </a:solidFill>
                <a:latin typeface="Segoe UI"/>
              </a:rPr>
              <a:t>From MVP to a scaled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6"/>
                </a:solidFill>
                <a:latin typeface="Nirmala UI"/>
              </a:rPr>
              <a:t>GP AI Bootcamp  ·  Skill সেতু (Career Compass)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0E9F6E"/>
                </a:solidFill>
                <a:latin typeface="Segoe UI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77440"/>
            <a:ext cx="342900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377440"/>
            <a:ext cx="3429000" cy="502920"/>
          </a:xfrm>
          <a:prstGeom prst="roundRect">
            <a:avLst>
              <a:gd name="adj" fmla="val 12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77440"/>
            <a:ext cx="2926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6323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2A"/>
                </a:solidFill>
                <a:latin typeface="Segoe UI"/>
              </a:rPr>
              <a:t>MVP — shipped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11880"/>
            <a:ext cx="29260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150" b="1">
                <a:solidFill>
                  <a:srgbClr val="0E9F6E"/>
                </a:solidFill>
                <a:latin typeface="Segoe UI"/>
              </a:rPr>
              <a:t>▪  </a:t>
            </a:r>
            <a:r>
              <a:rPr sz="1150">
                <a:solidFill>
                  <a:srgbClr val="0B1F2A"/>
                </a:solidFill>
                <a:latin typeface="Segoe UI"/>
              </a:rPr>
              <a:t>Assessment, roadmap, scholarships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150" b="1">
                <a:solidFill>
                  <a:srgbClr val="0E9F6E"/>
                </a:solidFill>
                <a:latin typeface="Segoe UI"/>
              </a:rPr>
              <a:t>▪  </a:t>
            </a:r>
            <a:r>
              <a:rPr sz="1150">
                <a:solidFill>
                  <a:srgbClr val="0B1F2A"/>
                </a:solidFill>
                <a:latin typeface="Segoe UI"/>
              </a:rPr>
              <a:t>CV review, mock interview, jobs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150" b="1">
                <a:solidFill>
                  <a:srgbClr val="0E9F6E"/>
                </a:solidFill>
                <a:latin typeface="Segoe UI"/>
              </a:rPr>
              <a:t>▪  </a:t>
            </a:r>
            <a:r>
              <a:rPr sz="1150">
                <a:solidFill>
                  <a:srgbClr val="0B1F2A"/>
                </a:solidFill>
                <a:latin typeface="Segoe UI"/>
              </a:rPr>
              <a:t>Neon persistence + analytics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2377440"/>
            <a:ext cx="342900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70832" y="2377440"/>
            <a:ext cx="3429000" cy="502920"/>
          </a:xfrm>
          <a:prstGeom prst="roundRect">
            <a:avLst>
              <a:gd name="adj" fmla="val 12000"/>
            </a:avLst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2377440"/>
            <a:ext cx="2926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306323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2A"/>
                </a:solidFill>
                <a:latin typeface="Segoe UI"/>
              </a:rPr>
              <a:t>Product hardening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611880"/>
            <a:ext cx="29260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150" b="1">
                <a:solidFill>
                  <a:srgbClr val="1E88E5"/>
                </a:solidFill>
                <a:latin typeface="Segoe UI"/>
              </a:rPr>
              <a:t>▪  </a:t>
            </a:r>
            <a:r>
              <a:rPr sz="1150">
                <a:solidFill>
                  <a:srgbClr val="0B1F2A"/>
                </a:solidFill>
                <a:latin typeface="Segoe UI"/>
              </a:rPr>
              <a:t>Real auth (magic link)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150" b="1">
                <a:solidFill>
                  <a:srgbClr val="1E88E5"/>
                </a:solidFill>
                <a:latin typeface="Segoe UI"/>
              </a:rPr>
              <a:t>▪  </a:t>
            </a:r>
            <a:r>
              <a:rPr sz="1150">
                <a:solidFill>
                  <a:srgbClr val="0B1F2A"/>
                </a:solidFill>
                <a:latin typeface="Segoe UI"/>
              </a:rPr>
              <a:t>Bangla voice interviews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150" b="1">
                <a:solidFill>
                  <a:srgbClr val="1E88E5"/>
                </a:solidFill>
                <a:latin typeface="Segoe UI"/>
              </a:rPr>
              <a:t>▪  </a:t>
            </a:r>
            <a:r>
              <a:rPr sz="1150">
                <a:solidFill>
                  <a:srgbClr val="0B1F2A"/>
                </a:solidFill>
                <a:latin typeface="Segoe UI"/>
              </a:rPr>
              <a:t>RAG over free-course library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3" y="2377440"/>
            <a:ext cx="342900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01583" y="2377440"/>
            <a:ext cx="3429000" cy="502920"/>
          </a:xfrm>
          <a:prstGeom prst="roundRect">
            <a:avLst>
              <a:gd name="adj" fmla="val 12000"/>
            </a:avLst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2377440"/>
            <a:ext cx="2926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LATER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306323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2A"/>
                </a:solidFill>
                <a:latin typeface="Segoe UI"/>
              </a:rPr>
              <a:t>Scale &amp; ecosystem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3611880"/>
            <a:ext cx="29260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150" b="1">
                <a:solidFill>
                  <a:srgbClr val="E08A00"/>
                </a:solidFill>
                <a:latin typeface="Segoe UI"/>
              </a:rPr>
              <a:t>▪  </a:t>
            </a:r>
            <a:r>
              <a:rPr sz="1150">
                <a:solidFill>
                  <a:srgbClr val="0B1F2A"/>
                </a:solidFill>
                <a:latin typeface="Segoe UI"/>
              </a:rPr>
              <a:t>Live job feeds + employer portal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150" b="1">
                <a:solidFill>
                  <a:srgbClr val="E08A00"/>
                </a:solidFill>
                <a:latin typeface="Segoe UI"/>
              </a:rPr>
              <a:t>▪  </a:t>
            </a:r>
            <a:r>
              <a:rPr sz="1150">
                <a:solidFill>
                  <a:srgbClr val="0B1F2A"/>
                </a:solidFill>
                <a:latin typeface="Segoe UI"/>
              </a:rPr>
              <a:t>MyGP rewards &amp; data packs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150" b="1">
                <a:solidFill>
                  <a:srgbClr val="E08A00"/>
                </a:solidFill>
                <a:latin typeface="Segoe UI"/>
              </a:rPr>
              <a:t>▪  </a:t>
            </a:r>
            <a:r>
              <a:rPr sz="1150">
                <a:solidFill>
                  <a:srgbClr val="0B1F2A"/>
                </a:solidFill>
                <a:latin typeface="Segoe UI"/>
              </a:rPr>
              <a:t>Impact analytics dashboard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206240"/>
            <a:ext cx="4572000" cy="4572000"/>
          </a:xfrm>
          <a:prstGeom prst="ellipse">
            <a:avLst/>
          </a:prstGeom>
          <a:solidFill>
            <a:srgbClr val="0C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280160"/>
            <a:ext cx="4114800" cy="4114800"/>
          </a:xfrm>
          <a:prstGeom prst="ellipse">
            <a:avLst/>
          </a:prstGeom>
          <a:solidFill>
            <a:srgbClr val="0A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0E9F6E"/>
                </a:solidFill>
                <a:latin typeface="Nirmala UI"/>
              </a:rPr>
              <a:t>Skill সেতু — building the bridge from education to employment.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D6DE"/>
                </a:solidFill>
                <a:latin typeface="Segoe UI"/>
              </a:rPr>
              <a:t>Questions &amp; live demo welcome.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C6B76"/>
                </a:solidFill>
                <a:latin typeface="Segoe UI"/>
              </a:rPr>
              <a:t>github.com/RajinShahriar10/Career-Compass   ·   GP AI Bootcamp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